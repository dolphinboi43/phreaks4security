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59" r:id="rId4"/>
  </p:sldMasterIdLst>
  <p:notesMasterIdLst>
    <p:notesMasterId r:id="rId17"/>
  </p:notesMasterIdLst>
  <p:handoutMasterIdLst>
    <p:handoutMasterId r:id="rId18"/>
  </p:handoutMasterIdLst>
  <p:sldIdLst>
    <p:sldId id="318" r:id="rId5"/>
    <p:sldId id="324" r:id="rId6"/>
    <p:sldId id="320" r:id="rId7"/>
    <p:sldId id="321" r:id="rId8"/>
    <p:sldId id="322" r:id="rId9"/>
    <p:sldId id="323" r:id="rId10"/>
    <p:sldId id="328" r:id="rId11"/>
    <p:sldId id="329" r:id="rId12"/>
    <p:sldId id="326" r:id="rId13"/>
    <p:sldId id="319" r:id="rId14"/>
    <p:sldId id="325" r:id="rId15"/>
    <p:sldId id="327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30">
          <p15:clr>
            <a:srgbClr val="A4A3A4"/>
          </p15:clr>
        </p15:guide>
        <p15:guide id="2" orient="horz" pos="393">
          <p15:clr>
            <a:srgbClr val="A4A3A4"/>
          </p15:clr>
        </p15:guide>
        <p15:guide id="3" orient="horz" pos="4055">
          <p15:clr>
            <a:srgbClr val="A4A3A4"/>
          </p15:clr>
        </p15:guide>
        <p15:guide id="4" pos="3840">
          <p15:clr>
            <a:srgbClr val="A4A3A4"/>
          </p15:clr>
        </p15:guide>
        <p15:guide id="5" pos="1501">
          <p15:clr>
            <a:srgbClr val="A4A3A4"/>
          </p15:clr>
        </p15:guide>
        <p15:guide id="6" pos="2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FCC00"/>
    <a:srgbClr val="0096FF"/>
    <a:srgbClr val="194793"/>
    <a:srgbClr val="EA5056"/>
    <a:srgbClr val="CB6028"/>
    <a:srgbClr val="0076C6"/>
    <a:srgbClr val="525252"/>
    <a:srgbClr val="D2D2D2"/>
    <a:srgbClr val="000000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56616"/>
  </p:normalViewPr>
  <p:slideViewPr>
    <p:cSldViewPr>
      <p:cViewPr varScale="1">
        <p:scale>
          <a:sx n="114" d="100"/>
          <a:sy n="114" d="100"/>
        </p:scale>
        <p:origin x="636" y="102"/>
      </p:cViewPr>
      <p:guideLst>
        <p:guide orient="horz" pos="2230"/>
        <p:guide orient="horz" pos="393"/>
        <p:guide orient="horz" pos="4055"/>
        <p:guide pos="3840"/>
        <p:guide pos="1501"/>
        <p:guide pos="2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0" d="100"/>
          <a:sy n="130" d="100"/>
        </p:scale>
        <p:origin x="-2696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MS PGothic" charset="0"/>
              </a:defRPr>
            </a:lvl1pPr>
          </a:lstStyle>
          <a:p>
            <a:pPr>
              <a:defRPr/>
            </a:pPr>
            <a:fld id="{BE6734F7-E980-B94D-A98B-A159D7A3E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95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MS PGothic" charset="0"/>
              </a:defRPr>
            </a:lvl1pPr>
          </a:lstStyle>
          <a:p>
            <a:pPr>
              <a:defRPr/>
            </a:pPr>
            <a:fld id="{51342D44-898C-604E-9C02-B4C04BCE3A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825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4" charset="0"/>
        <a:ea typeface="ＭＳ Ｐゴシック" charset="0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4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4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4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4" charset="0"/>
        <a:ea typeface="MS PGothic" panose="020B0600070205080204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00372-BEE2-2D45-A005-79934E953B47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7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53021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 userDrawn="1"/>
        </p:nvCxnSpPr>
        <p:spPr bwMode="auto">
          <a:xfrm>
            <a:off x="634999" y="983343"/>
            <a:ext cx="10947401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itle 10"/>
          <p:cNvSpPr>
            <a:spLocks noGrp="1"/>
          </p:cNvSpPr>
          <p:nvPr>
            <p:ph type="title" hasCustomPrompt="1"/>
          </p:nvPr>
        </p:nvSpPr>
        <p:spPr>
          <a:xfrm>
            <a:off x="533400" y="76200"/>
            <a:ext cx="11049000" cy="907143"/>
          </a:xfrm>
          <a:prstGeom prst="rect">
            <a:avLst/>
          </a:prstGeom>
        </p:spPr>
        <p:txBody>
          <a:bodyPr anchor="ctr" anchorCtr="0"/>
          <a:lstStyle>
            <a:lvl1pPr>
              <a:defRPr sz="2400"/>
            </a:lvl1pPr>
          </a:lstStyle>
          <a:p>
            <a:pPr>
              <a:defRPr/>
            </a:pPr>
            <a:r>
              <a:rPr lang="en-US" sz="220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885838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32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561D-B949-3649-8DE3-37913D11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07657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6219260"/>
            <a:ext cx="638629" cy="638740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>
            <a:glow rad="635000">
              <a:srgbClr val="0071B1">
                <a:alpha val="10000"/>
              </a:srgbClr>
            </a:glow>
            <a:outerShdw blurRad="40000" dist="23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pic>
        <p:nvPicPr>
          <p:cNvPr id="6" name="Picture 5" descr="2.5 in monogram white.eps"/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619" y="6419125"/>
            <a:ext cx="375028" cy="216493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 userDrawn="1"/>
        </p:nvSpPr>
        <p:spPr>
          <a:xfrm>
            <a:off x="9448800" y="6400800"/>
            <a:ext cx="20508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FFFFFF"/>
                </a:solidFill>
              </a:rPr>
              <a:t>© Brigham Young University-Idaho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11582400" y="6352401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E941A2C-A4B7-174C-86AB-EEB99EBDE1CD}" type="slidenum">
              <a:rPr lang="en-US" sz="1200" smtClean="0">
                <a:solidFill>
                  <a:schemeClr val="bg1"/>
                </a:solidFill>
              </a:rPr>
              <a:t>‹#›</a:t>
            </a:fld>
            <a:endParaRPr 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8" r:id="rId2"/>
    <p:sldLayoutId id="2147483743" r:id="rId3"/>
    <p:sldLayoutId id="2147483748" r:id="rId4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ＭＳ Ｐゴシック" charset="0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ＭＳ Ｐゴシック" charset="0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ingenergy.cx-associates.com/2013/02/effective-presentations-12-tips-for-engineers-dont-laugh/" TargetMode="External"/><Relationship Id="rId2" Type="http://schemas.openxmlformats.org/officeDocument/2006/relationships/hyperlink" Target="https://www.engineersrising.com/blog/mind-blowing-engineering-presentation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9143" y="-9624"/>
            <a:ext cx="11792857" cy="6865696"/>
          </a:xfrm>
          <a:prstGeom prst="rect">
            <a:avLst/>
          </a:prstGeom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111999" y="6400800"/>
            <a:ext cx="4775201" cy="276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1917" tIns="60958" rIns="121917" bIns="60958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0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rPr>
              <a:t>© Brigham Young University–Idaho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-23956" y="-9407"/>
            <a:ext cx="423099" cy="6875103"/>
          </a:xfrm>
          <a:prstGeom prst="rect">
            <a:avLst/>
          </a:prstGeom>
          <a:solidFill>
            <a:srgbClr val="0076C6"/>
          </a:solidFill>
          <a:ln>
            <a:noFill/>
          </a:ln>
          <a:effectLst>
            <a:outerShdw blurRad="40000" dist="23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-47172" y="623888"/>
            <a:ext cx="878170" cy="878322"/>
            <a:chOff x="-7257" y="457200"/>
            <a:chExt cx="878170" cy="878322"/>
          </a:xfrm>
        </p:grpSpPr>
        <p:sp>
          <p:nvSpPr>
            <p:cNvPr id="11" name="Rectangle 10"/>
            <p:cNvSpPr/>
            <p:nvPr/>
          </p:nvSpPr>
          <p:spPr>
            <a:xfrm>
              <a:off x="-7257" y="457200"/>
              <a:ext cx="878170" cy="878322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  <a:effectLst>
              <a:outerShdw blurRad="40000" dist="23000" dir="5400000" rotWithShape="0">
                <a:srgbClr val="000000">
                  <a:alpha val="1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2.5 in monogram white.eps"/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5106" y="732031"/>
              <a:ext cx="515696" cy="297696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16" name="TextBox 15"/>
          <p:cNvSpPr txBox="1"/>
          <p:nvPr/>
        </p:nvSpPr>
        <p:spPr>
          <a:xfrm>
            <a:off x="1426029" y="471714"/>
            <a:ext cx="5242406" cy="1210584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3000" b="1" dirty="0">
                <a:solidFill>
                  <a:schemeClr val="bg1"/>
                </a:solidFill>
                <a:latin typeface="Arial"/>
                <a:cs typeface="Arial"/>
              </a:rPr>
              <a:t>&lt;Group Project Name&gt;</a:t>
            </a: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ECEN 361 - &lt;Semester, Year&gt;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chemeClr val="bg1"/>
                </a:solidFill>
                <a:latin typeface="Arial"/>
                <a:cs typeface="Arial"/>
              </a:rPr>
              <a:t>&lt;Team Name&gt;</a:t>
            </a:r>
          </a:p>
        </p:txBody>
      </p:sp>
    </p:spTree>
    <p:extLst>
      <p:ext uri="{BB962C8B-B14F-4D97-AF65-F5344CB8AC3E}">
        <p14:creationId xmlns:p14="http://schemas.microsoft.com/office/powerpoint/2010/main" val="175284578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Introduce the team members and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Detail the scope of the project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features will be included? Why?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features will be excluded?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a picture of the final product</a:t>
            </a:r>
          </a:p>
        </p:txBody>
      </p:sp>
    </p:spTree>
    <p:extLst>
      <p:ext uri="{BB962C8B-B14F-4D97-AF65-F5344CB8AC3E}">
        <p14:creationId xmlns:p14="http://schemas.microsoft.com/office/powerpoint/2010/main" val="37641250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Hardware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Detail the hardware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the hardware block diagram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microcontroller?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How is the system powered? How much power does it require?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How is the system wired? What protocols are used for communication?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Discuss tradeoffs in your component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Give enough information here that I could go out and buy the components and assemble the system myself</a:t>
            </a:r>
          </a:p>
        </p:txBody>
      </p:sp>
    </p:spTree>
    <p:extLst>
      <p:ext uri="{BB962C8B-B14F-4D97-AF65-F5344CB8AC3E}">
        <p14:creationId xmlns:p14="http://schemas.microsoft.com/office/powerpoint/2010/main" val="52175401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Software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Detail the software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the software block diagram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 level diagram showing each module with hardware interfaces and communication protocols and inter-process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Call out programming languages used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RTOS?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If no RTOS used, discuss the tradeoffs and why you decided against an RTOS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Show flow diagram for each module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Startup/</a:t>
            </a:r>
            <a:r>
              <a:rPr lang="en-US" sz="2000" dirty="0" err="1">
                <a:solidFill>
                  <a:schemeClr val="bg1"/>
                </a:solidFill>
              </a:rPr>
              <a:t>init</a:t>
            </a:r>
            <a:endParaRPr lang="en-US" sz="2000" dirty="0">
              <a:solidFill>
                <a:schemeClr val="bg1"/>
              </a:solidFill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Hardware initialization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99687865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Project Demonstration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Video (or series of videos) demonstrating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each aspect of the design, including hardware and software (and all software features)</a:t>
            </a:r>
          </a:p>
        </p:txBody>
      </p:sp>
    </p:spTree>
    <p:extLst>
      <p:ext uri="{BB962C8B-B14F-4D97-AF65-F5344CB8AC3E}">
        <p14:creationId xmlns:p14="http://schemas.microsoft.com/office/powerpoint/2010/main" val="75280686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Challenges and Victories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Discuss what challenges you faced as a team and overcame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One slide per 1-2 challenges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Go into good detail and how it affected the design and/or scope of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Discuss the victories you realized as a team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One slide per 1-2 victories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Go into good detail on the victory and why it was awesome and what you learned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Discuss any failures you experienced as a team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One slide per 1-2 failures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was the root cause?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Understanding?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Schedule?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Hardware?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Software?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can you do next time to avoid this type of failure?</a:t>
            </a:r>
          </a:p>
        </p:txBody>
      </p:sp>
    </p:spTree>
    <p:extLst>
      <p:ext uri="{BB962C8B-B14F-4D97-AF65-F5344CB8AC3E}">
        <p14:creationId xmlns:p14="http://schemas.microsoft.com/office/powerpoint/2010/main" val="110299698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Path Forward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Where do you see this project going from here?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If you could continue working on it, what would you do next?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What features should be added next?</a:t>
            </a:r>
          </a:p>
        </p:txBody>
      </p:sp>
    </p:spTree>
    <p:extLst>
      <p:ext uri="{BB962C8B-B14F-4D97-AF65-F5344CB8AC3E}">
        <p14:creationId xmlns:p14="http://schemas.microsoft.com/office/powerpoint/2010/main" val="169153066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Recap the project and overall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344263128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79535C6-A76D-758E-A2CE-89A52419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4031"/>
            <a:ext cx="10515600" cy="769938"/>
          </a:xfrm>
        </p:spPr>
        <p:txBody>
          <a:bodyPr/>
          <a:lstStyle/>
          <a:p>
            <a:pPr algn="ctr"/>
            <a:r>
              <a:rPr lang="en-US" sz="4400" b="1" dirty="0"/>
              <a:t>Extra Information</a:t>
            </a:r>
          </a:p>
        </p:txBody>
      </p:sp>
    </p:spTree>
    <p:extLst>
      <p:ext uri="{BB962C8B-B14F-4D97-AF65-F5344CB8AC3E}">
        <p14:creationId xmlns:p14="http://schemas.microsoft.com/office/powerpoint/2010/main" val="398357825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Grading [not part of your presentation…]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highlight>
                  <a:srgbClr val="FFCC00"/>
                </a:highlight>
              </a:rPr>
              <a:t>Please refer to the rubric for exact details on how you will be graded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team member MUST be represented (see last slide on remote teams)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Presentations evaluated on three primary categories, scored [1,5]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Professionalism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Is this something you would be proud of and willing to use in a job interview?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Could you take this and use it to sell your product/project to someone?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Is your presentation top notch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Technicality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How well do you detail the technical aspects of the design (hardware and software)?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How well do you explain your design decisions and trade offs you had to make?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Creativity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creative solutions did you come up with to overcome your challenges?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did you do to set your project apart from the rest of the projects here and other products already on the market?</a:t>
            </a:r>
          </a:p>
        </p:txBody>
      </p:sp>
    </p:spTree>
    <p:extLst>
      <p:ext uri="{BB962C8B-B14F-4D97-AF65-F5344CB8AC3E}">
        <p14:creationId xmlns:p14="http://schemas.microsoft.com/office/powerpoint/2010/main" val="241045268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973645-8B66-9E96-579B-21A405FC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6200"/>
            <a:ext cx="11049000" cy="907143"/>
          </a:xfrm>
        </p:spPr>
        <p:txBody>
          <a:bodyPr/>
          <a:lstStyle/>
          <a:p>
            <a:r>
              <a:rPr lang="en-US" sz="2800" dirty="0"/>
              <a:t>Tips for a Great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612F9-06FD-33DB-4059-832E10196597}"/>
              </a:ext>
            </a:extLst>
          </p:cNvPr>
          <p:cNvSpPr txBox="1"/>
          <p:nvPr/>
        </p:nvSpPr>
        <p:spPr>
          <a:xfrm>
            <a:off x="533400" y="1143000"/>
            <a:ext cx="11049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YOUR PRESENTATION MUST STAND ON ITS 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highlight>
                  <a:srgbClr val="FFCC00"/>
                </a:highlight>
              </a:rPr>
              <a:t>I should NOT have to watch the video to understand your project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Readable presentation, but not wordy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Get your point across with the talking points in the slides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the video to augment what is in the slides, not to replace it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Think about needing to present this yourself to a prospective employer…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Good use of imagery, graphs, diagrams,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Know your audience: I am an engineer and appreciate details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Think of this like a thesis defense or similar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Keep videos to 15 minutes tops! 10 minutes is even better…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Would you show a 60-minute video presentation to a prospective employer?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Some more really good tips at these links: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hlinkClick r:id="rId2"/>
              </a:rPr>
              <a:t>https://www.engineersrising.com/blog/mind-blowing-engineering-presentations</a:t>
            </a:r>
            <a:endParaRPr lang="en-US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hlinkClick r:id="rId3"/>
              </a:rPr>
              <a:t>https://buildingenergy.cx-associates.com/2013/02/effective-presentations-12-tips-for-engineers-dont-laugh/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2732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8204-4721-DC13-A694-FA995C0D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Teams?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0910D-F234-4EF1-7572-EACD51525762}"/>
              </a:ext>
            </a:extLst>
          </p:cNvPr>
          <p:cNvSpPr txBox="1"/>
          <p:nvPr/>
        </p:nvSpPr>
        <p:spPr>
          <a:xfrm>
            <a:off x="533400" y="1143000"/>
            <a:ext cx="11049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One requirement of the presentation is that everyone MUST be represented visually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Solutions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Recorded Zoom meeting with screen share, each team member has their camera 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Each team member records their section of the presentation (with their face on camera) and team lead (or designee) compiles them all into one video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PowerPoint record feature (with cameo)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Loom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Screencase</a:t>
            </a:r>
            <a:r>
              <a:rPr lang="en-US" sz="2000" dirty="0">
                <a:solidFill>
                  <a:schemeClr val="bg1"/>
                </a:solidFill>
              </a:rPr>
              <a:t>-O-Matic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Other software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Find one time to meet in person and record the presentation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Reach out to your instructor for more ideas</a:t>
            </a:r>
          </a:p>
        </p:txBody>
      </p:sp>
    </p:spTree>
    <p:extLst>
      <p:ext uri="{BB962C8B-B14F-4D97-AF65-F5344CB8AC3E}">
        <p14:creationId xmlns:p14="http://schemas.microsoft.com/office/powerpoint/2010/main" val="2708108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ue Background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44" charset="0"/>
            <a:ea typeface="ＭＳ Ｐゴシック" pitchFamily="44" charset="-128"/>
            <a:cs typeface="ＭＳ Ｐゴシック" pitchFamily="4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44" charset="0"/>
            <a:ea typeface="ＭＳ Ｐゴシック" pitchFamily="44" charset="-128"/>
            <a:cs typeface="ＭＳ Ｐゴシック" pitchFamily="4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1B6B444A09214D9DCCA600826D0253" ma:contentTypeVersion="5" ma:contentTypeDescription="Create a new document." ma:contentTypeScope="" ma:versionID="fa7ca958c63ea3b940fbd8cda2c76bd2">
  <xsd:schema xmlns:xsd="http://www.w3.org/2001/XMLSchema" xmlns:xs="http://www.w3.org/2001/XMLSchema" xmlns:p="http://schemas.microsoft.com/office/2006/metadata/properties" xmlns:ns2="0d5b6996-7b0c-4dcb-84d8-e9d8d9a58920" xmlns:ns3="217c9dd7-f7c0-4c80-989f-cc993afec284" targetNamespace="http://schemas.microsoft.com/office/2006/metadata/properties" ma:root="true" ma:fieldsID="877c7ec7950cf7de18ffcf18dfb2cc72" ns2:_="" ns3:_="">
    <xsd:import namespace="0d5b6996-7b0c-4dcb-84d8-e9d8d9a58920"/>
    <xsd:import namespace="217c9dd7-f7c0-4c80-989f-cc993afec2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b6996-7b0c-4dcb-84d8-e9d8d9a589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c9dd7-f7c0-4c80-989f-cc993afec28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D24990-DDB8-4506-8457-A61317CA00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CE3DE6-BB98-4188-A779-68B129AA6E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5D9A30E-0E86-45EE-B9D7-AA217817D8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5b6996-7b0c-4dcb-84d8-e9d8d9a58920"/>
    <ds:schemaRef ds:uri="217c9dd7-f7c0-4c80-989f-cc993afec2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12356</TotalTime>
  <Words>765</Words>
  <Application>Microsoft Office PowerPoint</Application>
  <PresentationFormat>Widescreen</PresentationFormat>
  <Paragraphs>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</vt:lpstr>
      <vt:lpstr>Blue Background</vt:lpstr>
      <vt:lpstr>PowerPoint Presentation</vt:lpstr>
      <vt:lpstr>Project Overview</vt:lpstr>
      <vt:lpstr>Hardware Design</vt:lpstr>
      <vt:lpstr>Software Design</vt:lpstr>
      <vt:lpstr>Project Demonstration</vt:lpstr>
      <vt:lpstr>Challenges and Victories</vt:lpstr>
      <vt:lpstr>Path Forward</vt:lpstr>
      <vt:lpstr>Conclusion</vt:lpstr>
      <vt:lpstr>Extra Information</vt:lpstr>
      <vt:lpstr>Grading [not part of your presentation…]</vt:lpstr>
      <vt:lpstr>Tips for a Great Presentation</vt:lpstr>
      <vt:lpstr>Remote Teams?</vt:lpstr>
    </vt:vector>
  </TitlesOfParts>
  <Manager/>
  <Company>© Brigham Young University-Idaho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Brian Memmott</dc:creator>
  <cp:keywords/>
  <dc:description/>
  <cp:lastModifiedBy>Jonathan Haws</cp:lastModifiedBy>
  <cp:revision>527</cp:revision>
  <cp:lastPrinted>2020-01-10T21:57:23Z</cp:lastPrinted>
  <dcterms:created xsi:type="dcterms:W3CDTF">2010-11-02T18:22:43Z</dcterms:created>
  <dcterms:modified xsi:type="dcterms:W3CDTF">2023-08-12T17:44:40Z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0x010100B51B6B444A09214D9DCCA600826D0253</vt:lpwstr>
  </property>
</Properties>
</file>